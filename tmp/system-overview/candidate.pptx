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14f3991cd774f93" /><Relationship Type="http://schemas.openxmlformats.org/officeDocument/2006/relationships/extended-properties" Target="/docProps/app.xml" Id="R4204addfd3bd4164" /><Relationship Type="http://schemas.openxmlformats.org/officeDocument/2006/relationships/officeDocument" Target="/ppt/presentation.xml" Id="Rc2e0ab41dba04aa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a60ec7aa25540e6"/>
  </p:sldMasterIdLst>
  <p:notesMasterIdLst>
    <p:notesMasterId xmlns:r="http://schemas.openxmlformats.org/officeDocument/2006/relationships" r:id="R4562a202e6eb4465"/>
  </p:notesMasterIdLst>
  <p:sldIdLst>
    <p:sldId xmlns:r="http://schemas.openxmlformats.org/officeDocument/2006/relationships" id="256" r:id="R955ad2802ebd4ab6"/>
    <p:sldId xmlns:r="http://schemas.openxmlformats.org/officeDocument/2006/relationships" id="257" r:id="Ra4c41edfeace4abd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25fd5ee5ccf43cd" /><Relationship Type="http://schemas.openxmlformats.org/officeDocument/2006/relationships/slideMaster" Target="/ppt/slideMasters/slideMaster1.xml" Id="R0a60ec7aa25540e6" /><Relationship Type="http://schemas.openxmlformats.org/officeDocument/2006/relationships/notesMaster" Target="/ppt/notesMasters/notesMaster1.xml" Id="R4562a202e6eb4465" /><Relationship Type="http://schemas.openxmlformats.org/officeDocument/2006/relationships/presProps" Target="/ppt/presProps.xml" Id="Rda20a17a2e464460" /><Relationship Type="http://schemas.openxmlformats.org/officeDocument/2006/relationships/tableStyles" Target="/ppt/tableStyles.xml" Id="Rb509557e2aaf482a" /><Relationship Type="http://schemas.openxmlformats.org/officeDocument/2006/relationships/slide" Target="/ppt/slides/slide1.xml" Id="R955ad2802ebd4ab6" /><Relationship Type="http://schemas.openxmlformats.org/officeDocument/2006/relationships/slide" Target="/ppt/slides/slide2.xml" Id="Ra4c41edfeace4ab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49d46c1e0d4427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29e12ea7d654371" /><Relationship Type="http://schemas.openxmlformats.org/officeDocument/2006/relationships/notesMaster" Target="/ppt/notesMasters/notesMaster1.xml" Id="R24c9d103e02f4e4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59b1d6ddda44bcb" /><Relationship Type="http://schemas.openxmlformats.org/officeDocument/2006/relationships/notesMaster" Target="/ppt/notesMasters/notesMaster1.xml" Id="R8f6f04a74aa2439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สรุปวิธีดำเนินงาน 5 ขั้นจาก Doc/chapter3.tex และขอบเขต Use Case จาก Doc/usecases.tex โดยการประเมินผู้ใช้ยังเป็นขั้นตอนที่ต้องดำเนินการเพิ่มเติม ไม่อ้างว่าทุก Use Case ผ่านการทดสอบครบแล้ว ERD ย่ออ้างจาก Doc/data_dictionary.tex: user_goals.user_id, user_programs.user_id, running_sessions.user_id อ้าง users.id และ rpe_logs.running_session_id อ้าง running_sessions.id แต่ละรายการลูกอ้างหนึ่งรายการแม่ ความสัมพันธ์ 1:N แสดงความเป็นไปได้หลายรายการ ไม่ยืนยันว่าผู้ใช้หรือเซสชันต้องมีรายการลูกเสมอ ไม่ใส่เส้นแผนไปการวิ่งเพราะไม่ได้ยืนยัน FK โดยตรงจากเอกสาร กลุ่มสังคมและรางวัลละไว้เพื่ออ่านภาพรวม รายละเอียดทั้ง 41 ตารางอยู่ในรายงาน สถาปัตยกรรมอ้างบท 3 ส่วนสถานะ ML/Strava อ้างบท 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เส้นทาง: ตั้งเป้าหมาย → จัดแผน → วิ่ง → ประเมิน RPE → รับรางวัล ใช้ภาพต้นฉบับใน Doc/images ครบห้าภาพโดยไม่แก้ข้อความหรือตัวเลข ภาพเป็นตัวอย่างจากคนละช่วงการใช้งาน ไม่ได้อ้างว่าเป็นเซสชันต่อเนื่องเดียวกัน ภาพเป้าหมายยังไม่ได้เลือกค่า ภาพตารางยังอยู่ระหว่างจัดแผน และการวิ่งสั้นเป็นตัวอย่างหน้าจอ RPE คือคะแนนความหนักที่ผู้ใช้รู้สึกหลังวิ่ง ระบบเก็บร่วมกับระยะเวลาเพื่อคำนวณ sRPE ก่อนเริ่มวิ่งจริงมี Daily Wellness Check-in ซึ่งละรายละเอียดในภาพห้าขั้นนี้เพื่อแสดงเส้นทางหลัก จำนวน Coin และ EXP ที่ปรากฏเป็นตัวอย่าง ไม่ใช่อัตรารางวัลตายตัว แหล่งอ้างอิง: Doc/chapter4.tex และ Doc/frontend_test_results.tex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d32decb82e460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4c95e87b2c41a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cd7d1507ab426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0196bae95745c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1c8af7f374407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a09ca6cd6f434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F2BAC32-C1A7-4382-8F0D-BDB24BAEAA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CBCE1FD-BA9C-432B-8784-63819DD2E9A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CB86B65-0173-41A9-915F-F14DD58ABB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719E974-2416-4C95-AE5D-E2A888277A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2BE5907-7A7C-4806-B551-8E950B50231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B5C829F-0686-4135-9F96-B6606A6FA4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7920B39-A342-49AB-8DDA-6BE5DF92828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9279E2E-8D8B-4FF8-85FB-35D12524FA6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53B2538-B048-4065-B46F-60A208D7E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ED80634-2CA2-4DA8-89F4-9C7529BC820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0d0bb5ad0854a62" /><Relationship Type="http://schemas.openxmlformats.org/officeDocument/2006/relationships/slideLayout" Target="/ppt/slideLayouts/slideLayout1.xml" Id="R49d88035a21048b3" /><Relationship Type="http://schemas.openxmlformats.org/officeDocument/2006/relationships/slideLayout" Target="/ppt/slideLayouts/slideLayout2.xml" Id="R133456431b2346db" /><Relationship Type="http://schemas.openxmlformats.org/officeDocument/2006/relationships/slideLayout" Target="/ppt/slideLayouts/slideLayout3.xml" Id="R1e64915a2bdf4f88" /><Relationship Type="http://schemas.openxmlformats.org/officeDocument/2006/relationships/slideLayout" Target="/ppt/slideLayouts/slideLayout4.xml" Id="R02af99defeb94bbe" /><Relationship Type="http://schemas.openxmlformats.org/officeDocument/2006/relationships/slideLayout" Target="/ppt/slideLayouts/slideLayout5.xml" Id="R65ae9e50c0e04e21" /><Relationship Type="http://schemas.openxmlformats.org/officeDocument/2006/relationships/slideLayout" Target="/ppt/slideLayouts/slideLayout6.xml" Id="Re61b284ab2be413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9d88035a21048b3"/>
    <p:sldLayoutId xmlns:r="http://schemas.openxmlformats.org/officeDocument/2006/relationships" id="2147483650" r:id="R133456431b2346db"/>
    <p:sldLayoutId xmlns:r="http://schemas.openxmlformats.org/officeDocument/2006/relationships" id="2147483651" r:id="R1e64915a2bdf4f88"/>
    <p:sldLayoutId xmlns:r="http://schemas.openxmlformats.org/officeDocument/2006/relationships" id="2147483652" r:id="R02af99defeb94bbe"/>
    <p:sldLayoutId xmlns:r="http://schemas.openxmlformats.org/officeDocument/2006/relationships" id="2147483653" r:id="R65ae9e50c0e04e21"/>
    <p:sldLayoutId xmlns:r="http://schemas.openxmlformats.org/officeDocument/2006/relationships" id="2147483654" r:id="Re61b284ab2be413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d5c540184d4660" /><Relationship Type="http://schemas.openxmlformats.org/officeDocument/2006/relationships/notesSlide" Target="/ppt/notesSlides/notesSlide1.xml" Id="R897bac91be624e9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5538b0053344da" /><Relationship Type="http://schemas.openxmlformats.org/officeDocument/2006/relationships/image" Target="/ppt/media/image.png" Id="Rb285d3861c664af5" /><Relationship Type="http://schemas.openxmlformats.org/officeDocument/2006/relationships/image" Target="/ppt/media/image2.png" Id="R0784e2fbd7b24208" /><Relationship Type="http://schemas.openxmlformats.org/officeDocument/2006/relationships/image" Target="/ppt/media/image3.png" Id="R7690d51b81774e28" /><Relationship Type="http://schemas.openxmlformats.org/officeDocument/2006/relationships/image" Target="/ppt/media/image4.png" Id="R03dbac97d8464258" /><Relationship Type="http://schemas.openxmlformats.org/officeDocument/2006/relationships/image" Target="/ppt/media/image5.png" Id="R2aba234bc7ea42a6" /><Relationship Type="http://schemas.openxmlformats.org/officeDocument/2006/relationships/notesSlide" Target="/ppt/notesSlides/notesSlide2.xml" Id="Rd77b36130050415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636ED2F-9479-4987-A298-04E60195AC96}"/>
              </a:ext>
            </a:extLst>
          </p:cNvPr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8763000" y="6453188"/>
            <a:ext cx="95250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1889F"/>
            </a:solidFill>
          </a:ln>
        </p:spPr>
      </p:cxnSp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2F5F9B1-E8B6-4FAC-A56E-6A59169853BC}"/>
              </a:ext>
            </a:extLst>
          </p:cNvPr>
          <p:cNvCxnSpPr>
            <a:stCxn xmlns:a="http://schemas.openxmlformats.org/drawingml/2006/main" id="22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>
            <a:off x="7310438" y="4905375"/>
            <a:ext cx="166688" cy="11430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1889F"/>
            </a:solidFill>
          </a:ln>
        </p:spPr>
      </p:cxn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70F1CC4-C721-44C0-9B04-D009BF6BF2ED}"/>
              </a:ext>
            </a:extLst>
          </p:cNvPr>
          <p:cNvCxnSpPr>
            <a:stCxn xmlns:a="http://schemas.openxmlformats.org/drawingml/2006/main" id="22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8429625" y="4500563"/>
            <a:ext cx="1285875" cy="8953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1889F"/>
            </a:solidFill>
          </a:ln>
        </p:spPr>
      </p:cxn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B1EC83-6EBB-4FDF-B5AA-9BD7C24D6246}"/>
              </a:ext>
            </a:extLst>
          </p:cNvPr>
          <p:cNvCxnSpPr>
            <a:stCxn xmlns:a="http://schemas.openxmlformats.org/drawingml/2006/main" id="22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 flipV="1">
            <a:off x="8429625" y="4300538"/>
            <a:ext cx="1285875" cy="2000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1889F"/>
            </a:solidFill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FE2B370-EEE3-41AC-A95E-F7A6DACF3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381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3600" b="1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3600" b="1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3600" b="1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3600" b="1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3600" b="1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3600" b="1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3600" b="1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3600" b="1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3600" b="1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pPr>
            <a:r>
              <a:rPr sz="3600" b="1">
                <a:solidFill>
                  <a:srgbClr val="201B3E"/>
                </a:solidFill>
                <a:latin typeface="Leelawadee UI"/>
                <a:ea typeface="Leelawadee UI"/>
                <a:cs typeface="Leelawadee UI"/>
              </a:rPr>
              <a:t>วิธีดำเนินงานและการออกแบบระบบ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4BACE3-F819-4994-B307-FBBB4AD06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381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07F80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2250" b="1">
                <a:solidFill>
                  <a:srgbClr val="007F80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2250" b="1">
                <a:solidFill>
                  <a:srgbClr val="007F80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2250" b="1">
                <a:solidFill>
                  <a:srgbClr val="007F80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2250" b="1">
                <a:solidFill>
                  <a:srgbClr val="007F80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2250" b="1">
                <a:solidFill>
                  <a:srgbClr val="007F80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2250" b="1">
                <a:solidFill>
                  <a:srgbClr val="007F80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2250" b="1">
                <a:solidFill>
                  <a:srgbClr val="007F80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2250" b="1">
                <a:solidFill>
                  <a:srgbClr val="007F80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2250" b="1">
                <a:solidFill>
                  <a:srgbClr val="007F80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7F80"/>
                </a:solidFill>
                <a:latin typeface="Leelawadee UI"/>
                <a:ea typeface="Leelawadee UI"/>
                <a:cs typeface="Leelawadee UI"/>
              </a:defRPr>
            </a:pPr>
            <a:r>
              <a:rPr sz="2250" b="1">
                <a:solidFill>
                  <a:srgbClr val="007F80"/>
                </a:solidFill>
                <a:latin typeface="Leelawadee UI"/>
                <a:ea typeface="Leelawadee UI"/>
                <a:cs typeface="Leelawadee UI"/>
              </a:rPr>
              <a:t>ขั้นตอนดำเนินงาน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354DF3-1FD7-4AFF-A7F6-6D907EC48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2100" b="1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2100" b="1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2100" b="1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2100" b="1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2100" b="1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2100" b="1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2100" b="1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2100" b="1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2100" b="1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pPr>
            <a:r>
              <a:rPr sz="2100" b="1">
                <a:solidFill>
                  <a:srgbClr val="201B3E"/>
                </a:solidFill>
                <a:latin typeface="Leelawadee UI"/>
                <a:ea typeface="Leelawadee UI"/>
                <a:cs typeface="Leelawadee UI"/>
              </a:rPr>
              <a:t>01  ศึกษาทฤษฎี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7EFEB4-1823-4CDD-82A3-F3F418613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266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6546A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1800" b="0">
                <a:solidFill>
                  <a:srgbClr val="56546A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1800" b="0">
                <a:solidFill>
                  <a:srgbClr val="56546A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1800" b="0">
                <a:solidFill>
                  <a:srgbClr val="56546A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1800" b="0">
                <a:solidFill>
                  <a:srgbClr val="56546A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1800" b="0">
                <a:solidFill>
                  <a:srgbClr val="56546A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1800" b="0">
                <a:solidFill>
                  <a:srgbClr val="56546A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1800" b="0">
                <a:solidFill>
                  <a:srgbClr val="56546A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1800" b="0">
                <a:solidFill>
                  <a:srgbClr val="56546A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1800" b="0">
                <a:solidFill>
                  <a:srgbClr val="56546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6546A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0">
                <a:solidFill>
                  <a:srgbClr val="56546A"/>
                </a:solidFill>
                <a:latin typeface="Leelawadee UI"/>
                <a:ea typeface="Leelawadee UI"/>
                <a:cs typeface="Leelawadee UI"/>
              </a:rPr>
              <a:t>การฝึกวิ่งและเกมมิฟิเคชัน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462600-C8A1-4BD9-8D93-634587FFF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847850"/>
            <a:ext cx="38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007F80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2250" b="0">
                <a:solidFill>
                  <a:srgbClr val="007F80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2250" b="0">
                <a:solidFill>
                  <a:srgbClr val="007F80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2250" b="0">
                <a:solidFill>
                  <a:srgbClr val="007F80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2250" b="0">
                <a:solidFill>
                  <a:srgbClr val="007F80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2250" b="0">
                <a:solidFill>
                  <a:srgbClr val="007F80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2250" b="0">
                <a:solidFill>
                  <a:srgbClr val="007F80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2250" b="0">
                <a:solidFill>
                  <a:srgbClr val="007F80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2250" b="0">
                <a:solidFill>
                  <a:srgbClr val="007F80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2250" b="0">
                <a:solidFill>
                  <a:srgbClr val="007F80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007F80"/>
                </a:solidFill>
                <a:latin typeface="Leelawadee UI"/>
                <a:ea typeface="Leelawadee UI"/>
                <a:cs typeface="Leelawadee UI"/>
              </a:defRPr>
            </a:pPr>
            <a:r>
              <a:rPr sz="2250" b="0">
                <a:solidFill>
                  <a:srgbClr val="007F80"/>
                </a:solidFill>
                <a:latin typeface="Leelawadee UI"/>
                <a:ea typeface="Leelawadee UI"/>
                <a:cs typeface="Leelawadee UI"/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47F41E-F0CA-475E-8EC7-806EEB2B4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857375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2100" b="1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2100" b="1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2100" b="1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2100" b="1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2100" b="1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2100" b="1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2100" b="1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2100" b="1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2100" b="1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pPr>
            <a:r>
              <a:rPr sz="2100" b="1">
                <a:solidFill>
                  <a:srgbClr val="201B3E"/>
                </a:solidFill>
                <a:latin typeface="Leelawadee UI"/>
                <a:ea typeface="Leelawadee UI"/>
                <a:cs typeface="Leelawadee UI"/>
              </a:rPr>
              <a:t>02  เก็บความต้องการ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038F64-7C2B-4B12-8E42-7A4FAD55C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343150"/>
            <a:ext cx="266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6546A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1800" b="0">
                <a:solidFill>
                  <a:srgbClr val="56546A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1800" b="0">
                <a:solidFill>
                  <a:srgbClr val="56546A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1800" b="0">
                <a:solidFill>
                  <a:srgbClr val="56546A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1800" b="0">
                <a:solidFill>
                  <a:srgbClr val="56546A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1800" b="0">
                <a:solidFill>
                  <a:srgbClr val="56546A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1800" b="0">
                <a:solidFill>
                  <a:srgbClr val="56546A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1800" b="0">
                <a:solidFill>
                  <a:srgbClr val="56546A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1800" b="0">
                <a:solidFill>
                  <a:srgbClr val="56546A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1800" b="0">
                <a:solidFill>
                  <a:srgbClr val="56546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6546A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0">
                <a:solidFill>
                  <a:srgbClr val="56546A"/>
                </a:solidFill>
                <a:latin typeface="Leelawadee UI"/>
                <a:ea typeface="Leelawadee UI"/>
                <a:cs typeface="Leelawadee UI"/>
              </a:rPr>
              <a:t>แบบสอบถามและสัมภาษณ์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9EE438-9324-4919-93EB-6AFBDC50C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1847850"/>
            <a:ext cx="38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007F80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2250" b="0">
                <a:solidFill>
                  <a:srgbClr val="007F80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2250" b="0">
                <a:solidFill>
                  <a:srgbClr val="007F80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2250" b="0">
                <a:solidFill>
                  <a:srgbClr val="007F80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2250" b="0">
                <a:solidFill>
                  <a:srgbClr val="007F80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2250" b="0">
                <a:solidFill>
                  <a:srgbClr val="007F80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2250" b="0">
                <a:solidFill>
                  <a:srgbClr val="007F80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2250" b="0">
                <a:solidFill>
                  <a:srgbClr val="007F80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2250" b="0">
                <a:solidFill>
                  <a:srgbClr val="007F80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2250" b="0">
                <a:solidFill>
                  <a:srgbClr val="007F80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007F80"/>
                </a:solidFill>
                <a:latin typeface="Leelawadee UI"/>
                <a:ea typeface="Leelawadee UI"/>
                <a:cs typeface="Leelawadee UI"/>
              </a:defRPr>
            </a:pPr>
            <a:r>
              <a:rPr sz="2250" b="0">
                <a:solidFill>
                  <a:srgbClr val="007F80"/>
                </a:solidFill>
                <a:latin typeface="Leelawadee UI"/>
                <a:ea typeface="Leelawadee UI"/>
                <a:cs typeface="Leelawadee UI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904BF1-C60E-41BA-B83A-CFB316F55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57375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2100" b="1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2100" b="1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2100" b="1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2100" b="1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2100" b="1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2100" b="1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2100" b="1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2100" b="1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2100" b="1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pPr>
            <a:r>
              <a:rPr sz="2100" b="1">
                <a:solidFill>
                  <a:srgbClr val="201B3E"/>
                </a:solidFill>
                <a:latin typeface="Leelawadee UI"/>
                <a:ea typeface="Leelawadee UI"/>
                <a:cs typeface="Leelawadee UI"/>
              </a:rPr>
              <a:t>03  พัฒนาต้นแบบ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057C78-1DCD-4794-ADAA-5BDDD90DE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43150"/>
            <a:ext cx="266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6546A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1800" b="0">
                <a:solidFill>
                  <a:srgbClr val="56546A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1800" b="0">
                <a:solidFill>
                  <a:srgbClr val="56546A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1800" b="0">
                <a:solidFill>
                  <a:srgbClr val="56546A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1800" b="0">
                <a:solidFill>
                  <a:srgbClr val="56546A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1800" b="0">
                <a:solidFill>
                  <a:srgbClr val="56546A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1800" b="0">
                <a:solidFill>
                  <a:srgbClr val="56546A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1800" b="0">
                <a:solidFill>
                  <a:srgbClr val="56546A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1800" b="0">
                <a:solidFill>
                  <a:srgbClr val="56546A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1800" b="0">
                <a:solidFill>
                  <a:srgbClr val="56546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6546A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0">
                <a:solidFill>
                  <a:srgbClr val="56546A"/>
                </a:solidFill>
                <a:latin typeface="Leelawadee UI"/>
                <a:ea typeface="Leelawadee UI"/>
                <a:cs typeface="Leelawadee UI"/>
              </a:rPr>
              <a:t>UX/UI และระบบต้นแบบ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631C4D-51DB-4710-8407-132A6DD42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1847850"/>
            <a:ext cx="38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007F80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2250" b="0">
                <a:solidFill>
                  <a:srgbClr val="007F80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2250" b="0">
                <a:solidFill>
                  <a:srgbClr val="007F80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2250" b="0">
                <a:solidFill>
                  <a:srgbClr val="007F80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2250" b="0">
                <a:solidFill>
                  <a:srgbClr val="007F80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2250" b="0">
                <a:solidFill>
                  <a:srgbClr val="007F80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2250" b="0">
                <a:solidFill>
                  <a:srgbClr val="007F80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2250" b="0">
                <a:solidFill>
                  <a:srgbClr val="007F80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2250" b="0">
                <a:solidFill>
                  <a:srgbClr val="007F80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2250" b="0">
                <a:solidFill>
                  <a:srgbClr val="007F80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007F80"/>
                </a:solidFill>
                <a:latin typeface="Leelawadee UI"/>
                <a:ea typeface="Leelawadee UI"/>
                <a:cs typeface="Leelawadee UI"/>
              </a:defRPr>
            </a:pPr>
            <a:r>
              <a:rPr sz="2250" b="0">
                <a:solidFill>
                  <a:srgbClr val="007F80"/>
                </a:solidFill>
                <a:latin typeface="Leelawadee UI"/>
                <a:ea typeface="Leelawadee UI"/>
                <a:cs typeface="Leelawadee UI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375349-4ACE-4680-AE7D-39D6F4022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857375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2100" b="1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2100" b="1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2100" b="1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2100" b="1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2100" b="1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2100" b="1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2100" b="1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2100" b="1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2100" b="1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pPr>
            <a:r>
              <a:rPr sz="2100" b="1">
                <a:solidFill>
                  <a:srgbClr val="201B3E"/>
                </a:solidFill>
                <a:latin typeface="Leelawadee UI"/>
                <a:ea typeface="Leelawadee UI"/>
                <a:cs typeface="Leelawadee UI"/>
              </a:rPr>
              <a:t>04  ทดสอบระบบ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6E4DA1-9CFF-4E56-830D-D30C84B49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343150"/>
            <a:ext cx="266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6546A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1800" b="0">
                <a:solidFill>
                  <a:srgbClr val="56546A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1800" b="0">
                <a:solidFill>
                  <a:srgbClr val="56546A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1800" b="0">
                <a:solidFill>
                  <a:srgbClr val="56546A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1800" b="0">
                <a:solidFill>
                  <a:srgbClr val="56546A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1800" b="0">
                <a:solidFill>
                  <a:srgbClr val="56546A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1800" b="0">
                <a:solidFill>
                  <a:srgbClr val="56546A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1800" b="0">
                <a:solidFill>
                  <a:srgbClr val="56546A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1800" b="0">
                <a:solidFill>
                  <a:srgbClr val="56546A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1800" b="0">
                <a:solidFill>
                  <a:srgbClr val="56546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6546A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0">
                <a:solidFill>
                  <a:srgbClr val="56546A"/>
                </a:solidFill>
                <a:latin typeface="Leelawadee UI"/>
                <a:ea typeface="Leelawadee UI"/>
                <a:cs typeface="Leelawadee UI"/>
              </a:rPr>
              <a:t>ตรรกะ API และแอป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75B45D-A47E-44DC-B67E-0302CF672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5275" y="1847850"/>
            <a:ext cx="38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007F80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2250" b="0">
                <a:solidFill>
                  <a:srgbClr val="007F80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2250" b="0">
                <a:solidFill>
                  <a:srgbClr val="007F80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2250" b="0">
                <a:solidFill>
                  <a:srgbClr val="007F80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2250" b="0">
                <a:solidFill>
                  <a:srgbClr val="007F80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2250" b="0">
                <a:solidFill>
                  <a:srgbClr val="007F80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2250" b="0">
                <a:solidFill>
                  <a:srgbClr val="007F80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2250" b="0">
                <a:solidFill>
                  <a:srgbClr val="007F80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2250" b="0">
                <a:solidFill>
                  <a:srgbClr val="007F80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2250" b="0">
                <a:solidFill>
                  <a:srgbClr val="007F80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007F80"/>
                </a:solidFill>
                <a:latin typeface="Leelawadee UI"/>
                <a:ea typeface="Leelawadee UI"/>
                <a:cs typeface="Leelawadee UI"/>
              </a:defRPr>
            </a:pPr>
            <a:r>
              <a:rPr sz="2250" b="0">
                <a:solidFill>
                  <a:srgbClr val="007F80"/>
                </a:solidFill>
                <a:latin typeface="Leelawadee UI"/>
                <a:ea typeface="Leelawadee UI"/>
                <a:cs typeface="Leelawadee UI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CB1D0C-40AC-439E-BE50-6A815CFD5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1857375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2100" b="1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2100" b="1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2100" b="1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2100" b="1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2100" b="1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2100" b="1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2100" b="1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2100" b="1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2100" b="1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pPr>
            <a:r>
              <a:rPr sz="2100" b="1">
                <a:solidFill>
                  <a:srgbClr val="201B3E"/>
                </a:solidFill>
                <a:latin typeface="Leelawadee UI"/>
                <a:ea typeface="Leelawadee UI"/>
                <a:cs typeface="Leelawadee UI"/>
              </a:rPr>
              <a:t>05  ประเมินผล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237BAF-004A-4317-B968-0BD6CDC2E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2343150"/>
            <a:ext cx="266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6546A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1800" b="0">
                <a:solidFill>
                  <a:srgbClr val="56546A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1800" b="0">
                <a:solidFill>
                  <a:srgbClr val="56546A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1800" b="0">
                <a:solidFill>
                  <a:srgbClr val="56546A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1800" b="0">
                <a:solidFill>
                  <a:srgbClr val="56546A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1800" b="0">
                <a:solidFill>
                  <a:srgbClr val="56546A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1800" b="0">
                <a:solidFill>
                  <a:srgbClr val="56546A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1800" b="0">
                <a:solidFill>
                  <a:srgbClr val="56546A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1800" b="0">
                <a:solidFill>
                  <a:srgbClr val="56546A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1800" b="0">
                <a:solidFill>
                  <a:srgbClr val="56546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6546A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0">
                <a:solidFill>
                  <a:srgbClr val="56546A"/>
                </a:solidFill>
                <a:latin typeface="Leelawadee UI"/>
                <a:ea typeface="Leelawadee UI"/>
                <a:cs typeface="Leelawadee UI"/>
              </a:rPr>
              <a:t>การใช้งานและความคิดเห็น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41B59B-57DC-4964-AEB8-3A4798227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5095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7655D9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2400" b="1">
                <a:solidFill>
                  <a:srgbClr val="7655D9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2400" b="1">
                <a:solidFill>
                  <a:srgbClr val="7655D9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2400" b="1">
                <a:solidFill>
                  <a:srgbClr val="7655D9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2400" b="1">
                <a:solidFill>
                  <a:srgbClr val="7655D9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2400" b="1">
                <a:solidFill>
                  <a:srgbClr val="7655D9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2400" b="1">
                <a:solidFill>
                  <a:srgbClr val="7655D9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2400" b="1">
                <a:solidFill>
                  <a:srgbClr val="7655D9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2400" b="1">
                <a:solidFill>
                  <a:srgbClr val="7655D9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2400" b="1">
                <a:solidFill>
                  <a:srgbClr val="7655D9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7655D9"/>
                </a:solidFill>
                <a:latin typeface="Leelawadee UI"/>
                <a:ea typeface="Leelawadee UI"/>
                <a:cs typeface="Leelawadee UI"/>
              </a:defRPr>
            </a:pPr>
            <a:r>
              <a:rPr sz="2400" b="1">
                <a:solidFill>
                  <a:srgbClr val="7655D9"/>
                </a:solidFill>
                <a:latin typeface="Leelawadee UI"/>
                <a:ea typeface="Leelawadee UI"/>
                <a:cs typeface="Leelawadee UI"/>
              </a:rPr>
              <a:t>Use Case: ขอบเขตหลัก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5A6B97-12D8-4F00-AB53-B22746964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4619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2100" b="1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2100" b="1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2100" b="1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2100" b="1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2100" b="1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2100" b="1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2100" b="1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2100" b="1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2100" b="1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pPr>
            <a:r>
              <a:rPr sz="2100" b="1">
                <a:solidFill>
                  <a:srgbClr val="201B3E"/>
                </a:solidFill>
                <a:latin typeface="Leelawadee UI"/>
                <a:ea typeface="Leelawadee UI"/>
                <a:cs typeface="Leelawadee UI"/>
              </a:rPr>
              <a:t>นักวิ่ง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992587-62F4-4EB9-8B34-2BB653222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509587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2100" b="0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2100" b="0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2100" b="0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2100" b="0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2100" b="0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2100" b="0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2100" b="0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2100" b="0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2100" b="0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pPr>
            <a:r>
              <a:rPr sz="2100" b="0">
                <a:solidFill>
                  <a:srgbClr val="201B3E"/>
                </a:solidFill>
                <a:latin typeface="Leelawadee UI"/>
                <a:ea typeface="Leelawadee UI"/>
                <a:cs typeface="Leelawadee UI"/>
              </a:rPr>
              <a:t>บัญชีและโปรไฟล์</a:t>
            </a:r>
          </a:p>
          <a:p xmlns:a="http://schemas.openxmlformats.org/drawingml/2006/main">
            <a:pPr>
              <a:defRPr sz="2100" b="0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pPr>
            <a:r>
              <a:rPr sz="2100" b="0">
                <a:solidFill>
                  <a:srgbClr val="201B3E"/>
                </a:solidFill>
                <a:latin typeface="Leelawadee UI"/>
                <a:ea typeface="Leelawadee UI"/>
                <a:cs typeface="Leelawadee UI"/>
              </a:rPr>
              <a:t>สุขภาวะและแผนฝึก</a:t>
            </a:r>
          </a:p>
          <a:p xmlns:a="http://schemas.openxmlformats.org/drawingml/2006/main">
            <a:pPr>
              <a:defRPr sz="2100" b="0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pPr>
            <a:r>
              <a:rPr sz="2100" b="0">
                <a:solidFill>
                  <a:srgbClr val="201B3E"/>
                </a:solidFill>
                <a:latin typeface="Leelawadee UI"/>
                <a:ea typeface="Leelawadee UI"/>
                <a:cs typeface="Leelawadee UI"/>
              </a:rPr>
              <a:t>บันทึกการวิ่งและประเมิน RPE</a:t>
            </a:r>
          </a:p>
          <a:p xmlns:a="http://schemas.openxmlformats.org/drawingml/2006/main">
            <a:pPr>
              <a:defRPr sz="2100" b="0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pPr>
            <a:r>
              <a:rPr sz="2100" b="0">
                <a:solidFill>
                  <a:srgbClr val="201B3E"/>
                </a:solidFill>
                <a:latin typeface="Leelawadee UI"/>
                <a:ea typeface="Leelawadee UI"/>
                <a:cs typeface="Leelawadee UI"/>
              </a:rPr>
              <a:t>เพื่อนและคลับ</a:t>
            </a:r>
          </a:p>
          <a:p xmlns:a="http://schemas.openxmlformats.org/drawingml/2006/main">
            <a:pPr>
              <a:defRPr sz="2100" b="0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pPr>
            <a:r>
              <a:rPr sz="2100" b="0">
                <a:solidFill>
                  <a:srgbClr val="201B3E"/>
                </a:solidFill>
                <a:latin typeface="Leelawadee UI"/>
                <a:ea typeface="Leelawadee UI"/>
                <a:cs typeface="Leelawadee UI"/>
              </a:rPr>
              <a:t>รางวัล ร้านค้า และอวตาร์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19FE62-D8DD-4FC2-B6E5-04401C98B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38950"/>
            <a:ext cx="5095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6546A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1800" b="0">
                <a:solidFill>
                  <a:srgbClr val="56546A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1800" b="0">
                <a:solidFill>
                  <a:srgbClr val="56546A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1800" b="0">
                <a:solidFill>
                  <a:srgbClr val="56546A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1800" b="0">
                <a:solidFill>
                  <a:srgbClr val="56546A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1800" b="0">
                <a:solidFill>
                  <a:srgbClr val="56546A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1800" b="0">
                <a:solidFill>
                  <a:srgbClr val="56546A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1800" b="0">
                <a:solidFill>
                  <a:srgbClr val="56546A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1800" b="0">
                <a:solidFill>
                  <a:srgbClr val="56546A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1800" b="0">
                <a:solidFill>
                  <a:srgbClr val="56546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6546A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0">
                <a:solidFill>
                  <a:srgbClr val="56546A"/>
                </a:solidFill>
                <a:latin typeface="Leelawadee UI"/>
                <a:ea typeface="Leelawadee UI"/>
                <a:cs typeface="Leelawadee UI"/>
              </a:rPr>
              <a:t>หัวหน้าคลับ: จัดการสมาชิกในคลับตนเอง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C0961B-CA76-4A1D-B8BC-6FA6F4A7E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3850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7655D9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2400" b="1">
                <a:solidFill>
                  <a:srgbClr val="7655D9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2400" b="1">
                <a:solidFill>
                  <a:srgbClr val="7655D9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2400" b="1">
                <a:solidFill>
                  <a:srgbClr val="7655D9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2400" b="1">
                <a:solidFill>
                  <a:srgbClr val="7655D9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2400" b="1">
                <a:solidFill>
                  <a:srgbClr val="7655D9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2400" b="1">
                <a:solidFill>
                  <a:srgbClr val="7655D9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2400" b="1">
                <a:solidFill>
                  <a:srgbClr val="7655D9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2400" b="1">
                <a:solidFill>
                  <a:srgbClr val="7655D9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2400" b="1">
                <a:solidFill>
                  <a:srgbClr val="7655D9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7655D9"/>
                </a:solidFill>
                <a:latin typeface="Leelawadee UI"/>
                <a:ea typeface="Leelawadee UI"/>
                <a:cs typeface="Leelawadee UI"/>
              </a:defRPr>
            </a:pPr>
            <a:r>
              <a:rPr sz="2400" b="1">
                <a:solidFill>
                  <a:srgbClr val="7655D9"/>
                </a:solidFill>
                <a:latin typeface="Leelawadee UI"/>
                <a:ea typeface="Leelawadee UI"/>
                <a:cs typeface="Leelawadee UI"/>
              </a:rPr>
              <a:t>ERD ย่อ: ความสัมพันธ์ของข้อมูลหลัก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EDF8AB-1DC7-489A-B46C-6F9AFFB9A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95750"/>
            <a:ext cx="223837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FFA"/>
          </a:solidFill>
          <a:ln xmlns:a="http://schemas.openxmlformats.org/drawingml/2006/main" w="9525">
            <a:solidFill>
              <a:srgbClr val="C7BEDD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1875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1875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1875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1875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1875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1875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1875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1875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1875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defRPr sz="1875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>
                <a:solidFill>
                  <a:srgbClr val="201B3E"/>
                </a:solidFill>
                <a:latin typeface="Leelawadee UI"/>
                <a:ea typeface="Leelawadee UI"/>
                <a:cs typeface="Leelawadee UI"/>
              </a:rPr>
              <a:t>users</a:t>
            </a:r>
          </a:p>
          <a:p xmlns:a="http://schemas.openxmlformats.org/drawingml/2006/main">
            <a:pPr>
              <a:defRPr sz="1875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>
                <a:solidFill>
                  <a:srgbClr val="201B3E"/>
                </a:solidFill>
                <a:latin typeface="Leelawadee UI"/>
                <a:ea typeface="Leelawadee UI"/>
                <a:cs typeface="Leelawadee UI"/>
              </a:rPr>
              <a:t>ผู้ใช้งาน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1E952E-F847-4158-819D-AC5456606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895725"/>
            <a:ext cx="2476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FFA"/>
          </a:solidFill>
          <a:ln xmlns:a="http://schemas.openxmlformats.org/drawingml/2006/main" w="9525">
            <a:solidFill>
              <a:srgbClr val="C7BEDD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1875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1875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1875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1875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1875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1875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1875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1875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1875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defRPr sz="1875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>
                <a:solidFill>
                  <a:srgbClr val="201B3E"/>
                </a:solidFill>
                <a:latin typeface="Leelawadee UI"/>
                <a:ea typeface="Leelawadee UI"/>
                <a:cs typeface="Leelawadee UI"/>
              </a:rPr>
              <a:t>user_goals</a:t>
            </a:r>
          </a:p>
          <a:p xmlns:a="http://schemas.openxmlformats.org/drawingml/2006/main">
            <a:pPr>
              <a:defRPr sz="1875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>
                <a:solidFill>
                  <a:srgbClr val="201B3E"/>
                </a:solidFill>
                <a:latin typeface="Leelawadee UI"/>
                <a:ea typeface="Leelawadee UI"/>
                <a:cs typeface="Leelawadee UI"/>
              </a:rPr>
              <a:t>เป้าหมาย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321E1E-16A3-42BD-9055-D894D49A6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991100"/>
            <a:ext cx="2476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FFA"/>
          </a:solidFill>
          <a:ln xmlns:a="http://schemas.openxmlformats.org/drawingml/2006/main" w="9525">
            <a:solidFill>
              <a:srgbClr val="C7BEDD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1875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1875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1875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1875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1875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1875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1875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1875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1875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defRPr sz="1875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>
                <a:solidFill>
                  <a:srgbClr val="201B3E"/>
                </a:solidFill>
                <a:latin typeface="Leelawadee UI"/>
                <a:ea typeface="Leelawadee UI"/>
                <a:cs typeface="Leelawadee UI"/>
              </a:rPr>
              <a:t>user_programs</a:t>
            </a:r>
          </a:p>
          <a:p xmlns:a="http://schemas.openxmlformats.org/drawingml/2006/main">
            <a:pPr>
              <a:defRPr sz="1875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>
                <a:solidFill>
                  <a:srgbClr val="201B3E"/>
                </a:solidFill>
                <a:latin typeface="Leelawadee UI"/>
                <a:ea typeface="Leelawadee UI"/>
                <a:cs typeface="Leelawadee UI"/>
              </a:rPr>
              <a:t>แผนของผู้ใช้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540DF9-21A1-4B5B-9B57-C0ECF1ABB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048375"/>
            <a:ext cx="2571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FFA"/>
          </a:solidFill>
          <a:ln xmlns:a="http://schemas.openxmlformats.org/drawingml/2006/main" w="9525">
            <a:solidFill>
              <a:srgbClr val="C7BEDD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1875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1875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1875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1875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1875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1875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1875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1875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1875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defRPr sz="1875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>
                <a:solidFill>
                  <a:srgbClr val="201B3E"/>
                </a:solidFill>
                <a:latin typeface="Leelawadee UI"/>
                <a:ea typeface="Leelawadee UI"/>
                <a:cs typeface="Leelawadee UI"/>
              </a:rPr>
              <a:t>running_sessions</a:t>
            </a:r>
          </a:p>
          <a:p xmlns:a="http://schemas.openxmlformats.org/drawingml/2006/main">
            <a:pPr>
              <a:defRPr sz="1875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>
                <a:solidFill>
                  <a:srgbClr val="201B3E"/>
                </a:solidFill>
                <a:latin typeface="Leelawadee UI"/>
                <a:ea typeface="Leelawadee UI"/>
                <a:cs typeface="Leelawadee UI"/>
              </a:rPr>
              <a:t>การวิ่ง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D1EF4B2-AF45-47D0-A531-7014C31A7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276975"/>
            <a:ext cx="2476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FFA"/>
          </a:solidFill>
          <a:ln xmlns:a="http://schemas.openxmlformats.org/drawingml/2006/main" w="9525">
            <a:solidFill>
              <a:srgbClr val="C7BEDD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1875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1875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1875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1875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1875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1875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1875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1875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1875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defRPr sz="1875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>
                <a:solidFill>
                  <a:srgbClr val="201B3E"/>
                </a:solidFill>
                <a:latin typeface="Leelawadee UI"/>
                <a:ea typeface="Leelawadee UI"/>
                <a:cs typeface="Leelawadee UI"/>
              </a:rPr>
              <a:t>rpe_logs</a:t>
            </a:r>
          </a:p>
          <a:p xmlns:a="http://schemas.openxmlformats.org/drawingml/2006/main">
            <a:pPr>
              <a:defRPr sz="1875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>
                <a:solidFill>
                  <a:srgbClr val="201B3E"/>
                </a:solidFill>
                <a:latin typeface="Leelawadee UI"/>
                <a:ea typeface="Leelawadee UI"/>
                <a:cs typeface="Leelawadee UI"/>
              </a:rPr>
              <a:t>ผลประเมินหลังวิ่ง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2DF2D68-FD8A-45EC-9CF2-7464EA181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019550"/>
            <a:ext cx="809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007F80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1725" b="1">
                <a:solidFill>
                  <a:srgbClr val="007F80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1725" b="1">
                <a:solidFill>
                  <a:srgbClr val="007F80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1725" b="1">
                <a:solidFill>
                  <a:srgbClr val="007F80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1725" b="1">
                <a:solidFill>
                  <a:srgbClr val="007F80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1725" b="1">
                <a:solidFill>
                  <a:srgbClr val="007F80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1725" b="1">
                <a:solidFill>
                  <a:srgbClr val="007F80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1725" b="1">
                <a:solidFill>
                  <a:srgbClr val="007F80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1725" b="1">
                <a:solidFill>
                  <a:srgbClr val="007F80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1725" b="1">
                <a:solidFill>
                  <a:srgbClr val="007F80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07F80"/>
                </a:solidFill>
                <a:latin typeface="Leelawadee UI"/>
                <a:ea typeface="Leelawadee UI"/>
                <a:cs typeface="Leelawadee UI"/>
              </a:defRPr>
            </a:pPr>
            <a:r>
              <a:rPr sz="1725" b="1">
                <a:solidFill>
                  <a:srgbClr val="007F80"/>
                </a:solidFill>
                <a:latin typeface="Leelawadee UI"/>
                <a:ea typeface="Leelawadee UI"/>
                <a:cs typeface="Leelawadee UI"/>
              </a:rPr>
              <a:t>1 : 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5D255E8-27E4-4D44-8B6D-B0BB365B7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5153025"/>
            <a:ext cx="809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007F80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1725" b="1">
                <a:solidFill>
                  <a:srgbClr val="007F80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1725" b="1">
                <a:solidFill>
                  <a:srgbClr val="007F80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1725" b="1">
                <a:solidFill>
                  <a:srgbClr val="007F80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1725" b="1">
                <a:solidFill>
                  <a:srgbClr val="007F80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1725" b="1">
                <a:solidFill>
                  <a:srgbClr val="007F80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1725" b="1">
                <a:solidFill>
                  <a:srgbClr val="007F80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1725" b="1">
                <a:solidFill>
                  <a:srgbClr val="007F80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1725" b="1">
                <a:solidFill>
                  <a:srgbClr val="007F80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1725" b="1">
                <a:solidFill>
                  <a:srgbClr val="007F80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07F80"/>
                </a:solidFill>
                <a:latin typeface="Leelawadee UI"/>
                <a:ea typeface="Leelawadee UI"/>
                <a:cs typeface="Leelawadee UI"/>
              </a:defRPr>
            </a:pPr>
            <a:r>
              <a:rPr sz="1725" b="1">
                <a:solidFill>
                  <a:srgbClr val="007F80"/>
                </a:solidFill>
                <a:latin typeface="Leelawadee UI"/>
                <a:ea typeface="Leelawadee UI"/>
                <a:cs typeface="Leelawadee UI"/>
              </a:rPr>
              <a:t>1 : 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DC54B1A-579F-4AA2-B006-BF07003B1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334000"/>
            <a:ext cx="85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007F80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1725" b="1">
                <a:solidFill>
                  <a:srgbClr val="007F80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1725" b="1">
                <a:solidFill>
                  <a:srgbClr val="007F80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1725" b="1">
                <a:solidFill>
                  <a:srgbClr val="007F80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1725" b="1">
                <a:solidFill>
                  <a:srgbClr val="007F80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1725" b="1">
                <a:solidFill>
                  <a:srgbClr val="007F80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1725" b="1">
                <a:solidFill>
                  <a:srgbClr val="007F80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1725" b="1">
                <a:solidFill>
                  <a:srgbClr val="007F80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1725" b="1">
                <a:solidFill>
                  <a:srgbClr val="007F80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1725" b="1">
                <a:solidFill>
                  <a:srgbClr val="007F80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07F80"/>
                </a:solidFill>
                <a:latin typeface="Leelawadee UI"/>
                <a:ea typeface="Leelawadee UI"/>
                <a:cs typeface="Leelawadee UI"/>
              </a:defRPr>
            </a:pPr>
            <a:r>
              <a:rPr sz="1725" b="1">
                <a:solidFill>
                  <a:srgbClr val="007F80"/>
                </a:solidFill>
                <a:latin typeface="Leelawadee UI"/>
                <a:ea typeface="Leelawadee UI"/>
                <a:cs typeface="Leelawadee UI"/>
              </a:rPr>
              <a:t>1 : 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B282957-9A0D-4D85-9A81-33A171035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6419850"/>
            <a:ext cx="809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007F80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1725" b="1">
                <a:solidFill>
                  <a:srgbClr val="007F80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1725" b="1">
                <a:solidFill>
                  <a:srgbClr val="007F80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1725" b="1">
                <a:solidFill>
                  <a:srgbClr val="007F80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1725" b="1">
                <a:solidFill>
                  <a:srgbClr val="007F80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1725" b="1">
                <a:solidFill>
                  <a:srgbClr val="007F80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1725" b="1">
                <a:solidFill>
                  <a:srgbClr val="007F80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1725" b="1">
                <a:solidFill>
                  <a:srgbClr val="007F80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1725" b="1">
                <a:solidFill>
                  <a:srgbClr val="007F80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1725" b="1">
                <a:solidFill>
                  <a:srgbClr val="007F80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07F80"/>
                </a:solidFill>
                <a:latin typeface="Leelawadee UI"/>
                <a:ea typeface="Leelawadee UI"/>
                <a:cs typeface="Leelawadee UI"/>
              </a:defRPr>
            </a:pPr>
            <a:r>
              <a:rPr sz="1725" b="1">
                <a:solidFill>
                  <a:srgbClr val="007F80"/>
                </a:solidFill>
                <a:latin typeface="Leelawadee UI"/>
                <a:ea typeface="Leelawadee UI"/>
                <a:cs typeface="Leelawadee UI"/>
              </a:rPr>
              <a:t>1 : 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3632C10-016C-4885-A07D-0C3AA4F33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7219950"/>
            <a:ext cx="847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6546A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1725" b="0">
                <a:solidFill>
                  <a:srgbClr val="56546A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1725" b="0">
                <a:solidFill>
                  <a:srgbClr val="56546A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1725" b="0">
                <a:solidFill>
                  <a:srgbClr val="56546A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1725" b="0">
                <a:solidFill>
                  <a:srgbClr val="56546A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1725" b="0">
                <a:solidFill>
                  <a:srgbClr val="56546A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1725" b="0">
                <a:solidFill>
                  <a:srgbClr val="56546A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1725" b="0">
                <a:solidFill>
                  <a:srgbClr val="56546A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1725" b="0">
                <a:solidFill>
                  <a:srgbClr val="56546A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1725" b="0">
                <a:solidFill>
                  <a:srgbClr val="56546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6546A"/>
                </a:solidFill>
                <a:latin typeface="Leelawadee UI"/>
                <a:ea typeface="Leelawadee UI"/>
                <a:cs typeface="Leelawadee UI"/>
              </a:defRPr>
            </a:pPr>
            <a:r>
              <a:rPr sz="1725" b="0">
                <a:solidFill>
                  <a:srgbClr val="56546A"/>
                </a:solidFill>
                <a:latin typeface="Leelawadee UI"/>
                <a:ea typeface="Leelawadee UI"/>
                <a:cs typeface="Leelawadee UI"/>
              </a:rPr>
              <a:t>แสดงเฉพาะตารางและ FK หลักจากฐานข้อมูล 41 ตาราง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DDB8205-657F-4CBB-B0FD-955584C8E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67650"/>
            <a:ext cx="9810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07F80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2025" b="1">
                <a:solidFill>
                  <a:srgbClr val="007F80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2025" b="1">
                <a:solidFill>
                  <a:srgbClr val="007F80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2025" b="1">
                <a:solidFill>
                  <a:srgbClr val="007F80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2025" b="1">
                <a:solidFill>
                  <a:srgbClr val="007F80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2025" b="1">
                <a:solidFill>
                  <a:srgbClr val="007F80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2025" b="1">
                <a:solidFill>
                  <a:srgbClr val="007F80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2025" b="1">
                <a:solidFill>
                  <a:srgbClr val="007F80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2025" b="1">
                <a:solidFill>
                  <a:srgbClr val="007F80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2025" b="1">
                <a:solidFill>
                  <a:srgbClr val="007F80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07F80"/>
                </a:solidFill>
                <a:latin typeface="Leelawadee UI"/>
                <a:ea typeface="Leelawadee UI"/>
                <a:cs typeface="Leelawadee UI"/>
              </a:defRPr>
            </a:pPr>
            <a:r>
              <a:rPr sz="2025" b="1">
                <a:solidFill>
                  <a:srgbClr val="007F80"/>
                </a:solidFill>
                <a:latin typeface="Leelawadee UI"/>
                <a:ea typeface="Leelawadee UI"/>
                <a:cs typeface="Leelawadee UI"/>
              </a:rPr>
              <a:t>Flutter / Dart   →   Express / Node.js   →   PostgreSQL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EA86B49-F374-4838-A34B-F95B6B4BF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78867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6546A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1725" b="0">
                <a:solidFill>
                  <a:srgbClr val="56546A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1725" b="0">
                <a:solidFill>
                  <a:srgbClr val="56546A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1725" b="0">
                <a:solidFill>
                  <a:srgbClr val="56546A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1725" b="0">
                <a:solidFill>
                  <a:srgbClr val="56546A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1725" b="0">
                <a:solidFill>
                  <a:srgbClr val="56546A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1725" b="0">
                <a:solidFill>
                  <a:srgbClr val="56546A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1725" b="0">
                <a:solidFill>
                  <a:srgbClr val="56546A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1725" b="0">
                <a:solidFill>
                  <a:srgbClr val="56546A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1725" b="0">
                <a:solidFill>
                  <a:srgbClr val="56546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6546A"/>
                </a:solidFill>
                <a:latin typeface="Leelawadee UI"/>
                <a:ea typeface="Leelawadee UI"/>
                <a:cs typeface="Leelawadee UI"/>
              </a:defRPr>
            </a:pPr>
            <a:r>
              <a:rPr sz="1725" b="0">
                <a:solidFill>
                  <a:srgbClr val="56546A"/>
                </a:solidFill>
                <a:latin typeface="Leelawadee UI"/>
                <a:ea typeface="Leelawadee UI"/>
                <a:cs typeface="Leelawadee UI"/>
              </a:rPr>
              <a:t>ML และ Strava: งานต่อยอด</a:t>
            </a:r>
          </a:p>
        </p:txBody>
      </p:sp>
    </p:spTree>
    <p:extLst>
      <p:ext uri="{BB962C8B-B14F-4D97-AF65-F5344CB8AC3E}">
        <p14:creationId xmlns:p14="http://schemas.microsoft.com/office/powerpoint/2010/main" val="12196658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E1E8F5-EAA3-49D5-ACA5-C441F21FB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381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3600" b="1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3600" b="1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3600" b="1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3600" b="1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3600" b="1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3600" b="1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3600" b="1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3600" b="1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3600" b="1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pPr>
            <a:r>
              <a:rPr sz="3600" b="1">
                <a:solidFill>
                  <a:srgbClr val="201B3E"/>
                </a:solidFill>
                <a:latin typeface="Leelawadee UI"/>
                <a:ea typeface="Leelawadee UI"/>
                <a:cs typeface="Leelawadee UI"/>
              </a:rPr>
              <a:t>เส้นทางใช้งานจริงของ Pacegasus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946316-FFF8-4627-894F-0F2E2B3DC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7655D9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2400" b="1">
                <a:solidFill>
                  <a:srgbClr val="7655D9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2400" b="1">
                <a:solidFill>
                  <a:srgbClr val="7655D9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2400" b="1">
                <a:solidFill>
                  <a:srgbClr val="7655D9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2400" b="1">
                <a:solidFill>
                  <a:srgbClr val="7655D9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2400" b="1">
                <a:solidFill>
                  <a:srgbClr val="7655D9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2400" b="1">
                <a:solidFill>
                  <a:srgbClr val="7655D9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2400" b="1">
                <a:solidFill>
                  <a:srgbClr val="7655D9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2400" b="1">
                <a:solidFill>
                  <a:srgbClr val="7655D9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2400" b="1">
                <a:solidFill>
                  <a:srgbClr val="7655D9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7655D9"/>
                </a:solidFill>
                <a:latin typeface="Leelawadee UI"/>
                <a:ea typeface="Leelawadee UI"/>
                <a:cs typeface="Leelawadee UI"/>
              </a:defRPr>
            </a:pPr>
            <a:r>
              <a:rPr sz="2400" b="1">
                <a:solidFill>
                  <a:srgbClr val="7655D9"/>
                </a:solidFill>
                <a:latin typeface="Leelawadee UI"/>
                <a:ea typeface="Leelawadee UI"/>
                <a:cs typeface="Leelawadee UI"/>
              </a:rPr>
              <a:t>1  ตั้งเป้าหมาย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DE1F7A-7D73-47B5-9441-91C68F291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1504950"/>
            <a:ext cx="38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007F80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2400" b="0">
                <a:solidFill>
                  <a:srgbClr val="007F80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2400" b="0">
                <a:solidFill>
                  <a:srgbClr val="007F80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2400" b="0">
                <a:solidFill>
                  <a:srgbClr val="007F80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2400" b="0">
                <a:solidFill>
                  <a:srgbClr val="007F80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2400" b="0">
                <a:solidFill>
                  <a:srgbClr val="007F80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2400" b="0">
                <a:solidFill>
                  <a:srgbClr val="007F80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2400" b="0">
                <a:solidFill>
                  <a:srgbClr val="007F80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2400" b="0">
                <a:solidFill>
                  <a:srgbClr val="007F80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2400" b="0">
                <a:solidFill>
                  <a:srgbClr val="007F80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007F80"/>
                </a:solidFill>
                <a:latin typeface="Leelawadee UI"/>
                <a:ea typeface="Leelawadee UI"/>
                <a:cs typeface="Leelawadee UI"/>
              </a:defRPr>
            </a:pPr>
            <a:r>
              <a:rPr sz="2400" b="0">
                <a:solidFill>
                  <a:srgbClr val="007F80"/>
                </a:solidFill>
                <a:latin typeface="Leelawadee UI"/>
                <a:ea typeface="Leelawadee UI"/>
                <a:cs typeface="Leelawadee UI"/>
              </a:rPr>
              <a:t>→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D3B2EC-1D17-436E-A9FB-8526FAE8C29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85d3861c664af5"/>
          <a:stretch xmlns:a="http://schemas.openxmlformats.org/drawingml/2006/main"/>
        </p:blipFill>
        <p:spPr>
          <a:xfrm xmlns:a="http://schemas.openxmlformats.org/drawingml/2006/main">
            <a:off x="612482" y="2228850"/>
            <a:ext cx="2489787" cy="49911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6A13F5-B147-4A19-835C-F670D33ED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10450"/>
            <a:ext cx="2714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1800" b="0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1800" b="0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1800" b="0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1800" b="0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1800" b="0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1800" b="0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1800" b="0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1800" b="0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1800" b="0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0">
                <a:solidFill>
                  <a:srgbClr val="201B3E"/>
                </a:solidFill>
                <a:latin typeface="Leelawadee UI"/>
                <a:ea typeface="Leelawadee UI"/>
                <a:cs typeface="Leelawadee UI"/>
              </a:rPr>
              <a:t>เลือกเป้าหมายการวิ่ง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A4390D-9C7F-47BC-820B-49CD75EC9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495425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7655D9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2400" b="1">
                <a:solidFill>
                  <a:srgbClr val="7655D9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2400" b="1">
                <a:solidFill>
                  <a:srgbClr val="7655D9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2400" b="1">
                <a:solidFill>
                  <a:srgbClr val="7655D9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2400" b="1">
                <a:solidFill>
                  <a:srgbClr val="7655D9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2400" b="1">
                <a:solidFill>
                  <a:srgbClr val="7655D9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2400" b="1">
                <a:solidFill>
                  <a:srgbClr val="7655D9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2400" b="1">
                <a:solidFill>
                  <a:srgbClr val="7655D9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2400" b="1">
                <a:solidFill>
                  <a:srgbClr val="7655D9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2400" b="1">
                <a:solidFill>
                  <a:srgbClr val="7655D9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7655D9"/>
                </a:solidFill>
                <a:latin typeface="Leelawadee UI"/>
                <a:ea typeface="Leelawadee UI"/>
                <a:cs typeface="Leelawadee UI"/>
              </a:defRPr>
            </a:pPr>
            <a:r>
              <a:rPr sz="2400" b="1">
                <a:solidFill>
                  <a:srgbClr val="7655D9"/>
                </a:solidFill>
                <a:latin typeface="Leelawadee UI"/>
                <a:ea typeface="Leelawadee UI"/>
                <a:cs typeface="Leelawadee UI"/>
              </a:rPr>
              <a:t>2  จัดแผน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1DFFEB-88FF-4E39-9FB6-D40E6B338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1504950"/>
            <a:ext cx="38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007F80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2400" b="0">
                <a:solidFill>
                  <a:srgbClr val="007F80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2400" b="0">
                <a:solidFill>
                  <a:srgbClr val="007F80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2400" b="0">
                <a:solidFill>
                  <a:srgbClr val="007F80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2400" b="0">
                <a:solidFill>
                  <a:srgbClr val="007F80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2400" b="0">
                <a:solidFill>
                  <a:srgbClr val="007F80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2400" b="0">
                <a:solidFill>
                  <a:srgbClr val="007F80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2400" b="0">
                <a:solidFill>
                  <a:srgbClr val="007F80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2400" b="0">
                <a:solidFill>
                  <a:srgbClr val="007F80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2400" b="0">
                <a:solidFill>
                  <a:srgbClr val="007F80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007F80"/>
                </a:solidFill>
                <a:latin typeface="Leelawadee UI"/>
                <a:ea typeface="Leelawadee UI"/>
                <a:cs typeface="Leelawadee UI"/>
              </a:defRPr>
            </a:pPr>
            <a:r>
              <a:rPr sz="2400" b="0">
                <a:solidFill>
                  <a:srgbClr val="007F80"/>
                </a:solidFill>
                <a:latin typeface="Leelawadee UI"/>
                <a:ea typeface="Leelawadee UI"/>
                <a:cs typeface="Leelawadee UI"/>
              </a:rPr>
              <a:t>→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914292-D8F7-4DB6-992C-0046B485D88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84e2fbd7b24208"/>
          <a:stretch xmlns:a="http://schemas.openxmlformats.org/drawingml/2006/main"/>
        </p:blipFill>
        <p:spPr>
          <a:xfrm xmlns:a="http://schemas.openxmlformats.org/drawingml/2006/main">
            <a:off x="3469982" y="2228850"/>
            <a:ext cx="2489787" cy="49911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6B6A11-7871-451D-B78E-41AEB7895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7410450"/>
            <a:ext cx="2714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1800" b="0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1800" b="0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1800" b="0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1800" b="0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1800" b="0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1800" b="0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1800" b="0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1800" b="0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1800" b="0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0">
                <a:solidFill>
                  <a:srgbClr val="201B3E"/>
                </a:solidFill>
                <a:latin typeface="Leelawadee UI"/>
                <a:ea typeface="Leelawadee UI"/>
                <a:cs typeface="Leelawadee UI"/>
              </a:rPr>
              <a:t>เลือกแผนและวันฝึก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3BD6B4-0AA4-4DBC-87F4-CD32C1191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95425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7655D9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2400" b="1">
                <a:solidFill>
                  <a:srgbClr val="7655D9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2400" b="1">
                <a:solidFill>
                  <a:srgbClr val="7655D9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2400" b="1">
                <a:solidFill>
                  <a:srgbClr val="7655D9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2400" b="1">
                <a:solidFill>
                  <a:srgbClr val="7655D9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2400" b="1">
                <a:solidFill>
                  <a:srgbClr val="7655D9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2400" b="1">
                <a:solidFill>
                  <a:srgbClr val="7655D9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2400" b="1">
                <a:solidFill>
                  <a:srgbClr val="7655D9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2400" b="1">
                <a:solidFill>
                  <a:srgbClr val="7655D9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2400" b="1">
                <a:solidFill>
                  <a:srgbClr val="7655D9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7655D9"/>
                </a:solidFill>
                <a:latin typeface="Leelawadee UI"/>
                <a:ea typeface="Leelawadee UI"/>
                <a:cs typeface="Leelawadee UI"/>
              </a:defRPr>
            </a:pPr>
            <a:r>
              <a:rPr sz="2400" b="1">
                <a:solidFill>
                  <a:srgbClr val="7655D9"/>
                </a:solidFill>
                <a:latin typeface="Leelawadee UI"/>
                <a:ea typeface="Leelawadee UI"/>
                <a:cs typeface="Leelawadee UI"/>
              </a:rPr>
              <a:t>3  วิ่ง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CA6B0D-D54C-4E18-899B-791BEA740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504950"/>
            <a:ext cx="38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007F80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2400" b="0">
                <a:solidFill>
                  <a:srgbClr val="007F80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2400" b="0">
                <a:solidFill>
                  <a:srgbClr val="007F80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2400" b="0">
                <a:solidFill>
                  <a:srgbClr val="007F80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2400" b="0">
                <a:solidFill>
                  <a:srgbClr val="007F80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2400" b="0">
                <a:solidFill>
                  <a:srgbClr val="007F80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2400" b="0">
                <a:solidFill>
                  <a:srgbClr val="007F80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2400" b="0">
                <a:solidFill>
                  <a:srgbClr val="007F80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2400" b="0">
                <a:solidFill>
                  <a:srgbClr val="007F80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2400" b="0">
                <a:solidFill>
                  <a:srgbClr val="007F80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007F80"/>
                </a:solidFill>
                <a:latin typeface="Leelawadee UI"/>
                <a:ea typeface="Leelawadee UI"/>
                <a:cs typeface="Leelawadee UI"/>
              </a:defRPr>
            </a:pPr>
            <a:r>
              <a:rPr sz="2400" b="0">
                <a:solidFill>
                  <a:srgbClr val="007F80"/>
                </a:solidFill>
                <a:latin typeface="Leelawadee UI"/>
                <a:ea typeface="Leelawadee UI"/>
                <a:cs typeface="Leelawadee UI"/>
              </a:rPr>
              <a:t>→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F8D636-4149-4A84-BB9A-115DDF867DC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90d51b81774e28"/>
          <a:stretch xmlns:a="http://schemas.openxmlformats.org/drawingml/2006/main"/>
        </p:blipFill>
        <p:spPr>
          <a:xfrm xmlns:a="http://schemas.openxmlformats.org/drawingml/2006/main">
            <a:off x="6337181" y="2228850"/>
            <a:ext cx="2470389" cy="49911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13ECB0-DC47-4A99-89D7-39C63D5A0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7410450"/>
            <a:ext cx="2714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1800" b="0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1800" b="0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1800" b="0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1800" b="0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1800" b="0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1800" b="0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1800" b="0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1800" b="0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1800" b="0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0">
                <a:solidFill>
                  <a:srgbClr val="201B3E"/>
                </a:solidFill>
                <a:latin typeface="Leelawadee UI"/>
                <a:ea typeface="Leelawadee UI"/>
                <a:cs typeface="Leelawadee UI"/>
              </a:rPr>
              <a:t>บันทึกเวลาและระยะทาง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07A3EC-6A91-46BF-9238-147E630D2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495425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7655D9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2400" b="1">
                <a:solidFill>
                  <a:srgbClr val="7655D9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2400" b="1">
                <a:solidFill>
                  <a:srgbClr val="7655D9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2400" b="1">
                <a:solidFill>
                  <a:srgbClr val="7655D9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2400" b="1">
                <a:solidFill>
                  <a:srgbClr val="7655D9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2400" b="1">
                <a:solidFill>
                  <a:srgbClr val="7655D9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2400" b="1">
                <a:solidFill>
                  <a:srgbClr val="7655D9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2400" b="1">
                <a:solidFill>
                  <a:srgbClr val="7655D9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2400" b="1">
                <a:solidFill>
                  <a:srgbClr val="7655D9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2400" b="1">
                <a:solidFill>
                  <a:srgbClr val="7655D9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7655D9"/>
                </a:solidFill>
                <a:latin typeface="Leelawadee UI"/>
                <a:ea typeface="Leelawadee UI"/>
                <a:cs typeface="Leelawadee UI"/>
              </a:defRPr>
            </a:pPr>
            <a:r>
              <a:rPr sz="2400" b="1">
                <a:solidFill>
                  <a:srgbClr val="7655D9"/>
                </a:solidFill>
                <a:latin typeface="Leelawadee UI"/>
                <a:ea typeface="Leelawadee UI"/>
                <a:cs typeface="Leelawadee UI"/>
              </a:rPr>
              <a:t>4  ประเมิน RPE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3EBE65-56C8-4E52-BCE7-4721C75AA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7175" y="1504950"/>
            <a:ext cx="38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007F80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2400" b="0">
                <a:solidFill>
                  <a:srgbClr val="007F80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2400" b="0">
                <a:solidFill>
                  <a:srgbClr val="007F80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2400" b="0">
                <a:solidFill>
                  <a:srgbClr val="007F80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2400" b="0">
                <a:solidFill>
                  <a:srgbClr val="007F80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2400" b="0">
                <a:solidFill>
                  <a:srgbClr val="007F80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2400" b="0">
                <a:solidFill>
                  <a:srgbClr val="007F80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2400" b="0">
                <a:solidFill>
                  <a:srgbClr val="007F80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2400" b="0">
                <a:solidFill>
                  <a:srgbClr val="007F80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2400" b="0">
                <a:solidFill>
                  <a:srgbClr val="007F80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007F80"/>
                </a:solidFill>
                <a:latin typeface="Leelawadee UI"/>
                <a:ea typeface="Leelawadee UI"/>
                <a:cs typeface="Leelawadee UI"/>
              </a:defRPr>
            </a:pPr>
            <a:r>
              <a:rPr sz="2400" b="0">
                <a:solidFill>
                  <a:srgbClr val="007F80"/>
                </a:solidFill>
                <a:latin typeface="Leelawadee UI"/>
                <a:ea typeface="Leelawadee UI"/>
                <a:cs typeface="Leelawadee UI"/>
              </a:rPr>
              <a:t>→</a:t>
            </a:r>
          </a:p>
        </p:txBody>
      </p:sp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7EFEA8-CAF4-4F41-8FB3-95A9DCB9809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dbac97d8464258"/>
          <a:stretch xmlns:a="http://schemas.openxmlformats.org/drawingml/2006/main"/>
        </p:blipFill>
        <p:spPr>
          <a:xfrm xmlns:a="http://schemas.openxmlformats.org/drawingml/2006/main">
            <a:off x="9182100" y="2228850"/>
            <a:ext cx="2495550" cy="499110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787068-2069-4E85-B0B0-806E8A817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7410450"/>
            <a:ext cx="2714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1800" b="0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1800" b="0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1800" b="0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1800" b="0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1800" b="0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1800" b="0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1800" b="0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1800" b="0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1800" b="0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0">
                <a:solidFill>
                  <a:srgbClr val="201B3E"/>
                </a:solidFill>
                <a:latin typeface="Leelawadee UI"/>
                <a:ea typeface="Leelawadee UI"/>
                <a:cs typeface="Leelawadee UI"/>
              </a:rPr>
              <a:t>บันทึกความหนักหลังวิ่ง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BEE622-2621-41CE-A75E-EBB0141C3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1495425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9C6500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2400" b="1">
                <a:solidFill>
                  <a:srgbClr val="9C6500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2400" b="1">
                <a:solidFill>
                  <a:srgbClr val="9C6500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2400" b="1">
                <a:solidFill>
                  <a:srgbClr val="9C6500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2400" b="1">
                <a:solidFill>
                  <a:srgbClr val="9C6500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2400" b="1">
                <a:solidFill>
                  <a:srgbClr val="9C6500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2400" b="1">
                <a:solidFill>
                  <a:srgbClr val="9C6500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2400" b="1">
                <a:solidFill>
                  <a:srgbClr val="9C6500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2400" b="1">
                <a:solidFill>
                  <a:srgbClr val="9C6500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2400" b="1">
                <a:solidFill>
                  <a:srgbClr val="9C6500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9C6500"/>
                </a:solidFill>
                <a:latin typeface="Leelawadee UI"/>
                <a:ea typeface="Leelawadee UI"/>
                <a:cs typeface="Leelawadee UI"/>
              </a:defRPr>
            </a:pPr>
            <a:r>
              <a:rPr sz="2400" b="1">
                <a:solidFill>
                  <a:srgbClr val="9C6500"/>
                </a:solidFill>
                <a:latin typeface="Leelawadee UI"/>
                <a:ea typeface="Leelawadee UI"/>
                <a:cs typeface="Leelawadee UI"/>
              </a:rPr>
              <a:t>5  รับรางวัล</a:t>
            </a:r>
          </a:p>
        </p:txBody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287032-2E9A-444B-A689-ECC7DBF6369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ba234bc7ea42a6"/>
          <a:stretch xmlns:a="http://schemas.openxmlformats.org/drawingml/2006/main"/>
        </p:blipFill>
        <p:spPr>
          <a:xfrm xmlns:a="http://schemas.openxmlformats.org/drawingml/2006/main">
            <a:off x="12039600" y="2228850"/>
            <a:ext cx="2495550" cy="499110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B23D67-7335-4DA4-BAD3-0CE18B102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7410450"/>
            <a:ext cx="2714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1800" b="0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1800" b="0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1800" b="0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1800" b="0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1800" b="0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1800" b="0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1800" b="0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1800" b="0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1800" b="0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01B3E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0">
                <a:solidFill>
                  <a:srgbClr val="201B3E"/>
                </a:solidFill>
                <a:latin typeface="Leelawadee UI"/>
                <a:ea typeface="Leelawadee UI"/>
                <a:cs typeface="Leelawadee UI"/>
              </a:rPr>
              <a:t>ดู Coin และ EXP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0D30C9-4C38-4EA9-93A6-57D458766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15300"/>
            <a:ext cx="1400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6546A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1650" b="0">
                <a:solidFill>
                  <a:srgbClr val="56546A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1650" b="0">
                <a:solidFill>
                  <a:srgbClr val="56546A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1650" b="0">
                <a:solidFill>
                  <a:srgbClr val="56546A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1650" b="0">
                <a:solidFill>
                  <a:srgbClr val="56546A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1650" b="0">
                <a:solidFill>
                  <a:srgbClr val="56546A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1650" b="0">
                <a:solidFill>
                  <a:srgbClr val="56546A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1650" b="0">
                <a:solidFill>
                  <a:srgbClr val="56546A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1650" b="0">
                <a:solidFill>
                  <a:srgbClr val="56546A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1650" b="0">
                <a:solidFill>
                  <a:srgbClr val="56546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6546A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0">
                <a:solidFill>
                  <a:srgbClr val="56546A"/>
                </a:solidFill>
                <a:latin typeface="Leelawadee UI"/>
                <a:ea typeface="Leelawadee UI"/>
                <a:cs typeface="Leelawadee UI"/>
              </a:rPr>
              <a:t>ภาพหน้าจอต้นแบบคนละช่วงใช้งาน ตัวเลขเป็นข้อมูลตัวอย่าง</a:t>
            </a:r>
          </a:p>
        </p:txBody>
      </p:sp>
    </p:spTree>
    <p:extLst>
      <p:ext uri="{BB962C8B-B14F-4D97-AF65-F5344CB8AC3E}">
        <p14:creationId xmlns:p14="http://schemas.microsoft.com/office/powerpoint/2010/main" val="8901415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2026-10-19T19:00:25.3630000Z</dcterms:created>
  <dcterms:modified xsi:type="dcterms:W3CDTF">2026-10-19T19:00:25.3630000Z</dcterms:modified>
</coreProperties>
</file>